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heme" Target="theme/theme1.xml"/>
  <Relationship Id="rId12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40080" y="502920"/>
            <a:ext cx="2743200" cy="320040"/>
          </a:xfrm>
          <a:prstGeom prst="rect">
            <a:avLst/>
          </a:prstGeom>
        </p:spPr>
        <p:txBody>
          <a:bodyPr/>
          <a:lstStyle/>
          <a:p>
            <a:r>
              <a:rPr lang="en-US" b="1" sz="1600">
                <a:solidFill>
                  <a:srgbClr val="37E0C7"/>
                </a:solidFill>
              </a:rPr>
              <a:t>AUTOCOVER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1097280"/>
            <a:ext cx="5486400" cy="1097280"/>
          </a:xfrm>
          <a:prstGeom prst="rect">
            <a:avLst/>
          </a:prstGeom>
        </p:spPr>
        <p:txBody>
          <a:bodyPr/>
          <a:lstStyle/>
          <a:p>
            <a:r>
              <a:rPr lang="en-US" b="1" sz="2800">
                <a:solidFill>
                  <a:srgbClr val="FFFFFF"/>
                </a:solidFill>
              </a:rPr>
              <a:t>Generación automática de pruebas a escala industrial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2834640"/>
            <a:ext cx="5303520" cy="64008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B9C6D8"/>
                </a:solidFill>
              </a:rPr>
              <a:t>Arquitectura multi-agente e integración de flujos de trabajo · ICSE-SEIP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5486400"/>
            <a:ext cx="5303520" cy="50292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FFFFFF"/>
                </a:solidFill>
              </a:rPr>
              <a:t>Fabricio Jesús Huaquisto Quispe · Jose Carlos Malaga · Lenin Huayhua</a:t>
            </a:r>
          </a:p>
        </p:txBody>
      </p:sp>
      <p:sp>
        <p:nvSpPr>
          <p:cNvPr id="6" name="Shape 6"/>
          <p:cNvSpPr/>
          <p:nvPr/>
        </p:nvSpPr>
        <p:spPr>
          <a:xfrm>
            <a:off x="7315200" y="1143000"/>
            <a:ext cx="2834640" cy="2834640"/>
          </a:xfrm>
          <a:prstGeom prst="ellipse">
            <a:avLst/>
          </a:prstGeom>
          <a:solidFill>
            <a:srgbClr val="143450"/>
          </a:solidFill>
          <a:ln w="25400">
            <a:solidFill>
              <a:srgbClr val="37E0C7"/>
            </a:solidFill>
          </a:ln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8065008" y="1874520"/>
            <a:ext cx="1371600" cy="1371600"/>
          </a:xfrm>
          <a:prstGeom prst="ellipse">
            <a:avLst/>
          </a:prstGeom>
          <a:solidFill>
            <a:srgbClr val="37E0C7"/>
          </a:solidFill>
          <a:ln w="12700">
            <a:solidFill>
              <a:srgbClr val="37E0C7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183880" y="2331720"/>
            <a:ext cx="1143000" cy="274320"/>
          </a:xfrm>
          <a:prstGeom prst="rect">
            <a:avLst/>
          </a:prstGeom>
        </p:spPr>
        <p:txBody>
          <a:bodyPr/>
          <a:lstStyle/>
          <a:p>
            <a:r>
              <a:rPr lang="en-US" b="1" sz="1400">
                <a:solidFill>
                  <a:srgbClr val="0B1020"/>
                </a:solidFill>
              </a:rPr>
              <a:t>LLM +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94360" y="411480"/>
            <a:ext cx="3657600" cy="457200"/>
          </a:xfrm>
          <a:prstGeom prst="rect">
            <a:avLst/>
          </a:prstGeom>
        </p:spPr>
        <p:txBody>
          <a:bodyPr/>
          <a:lstStyle/>
          <a:p>
            <a:r>
              <a:rPr lang="en-US" b="1" sz="2800">
                <a:solidFill>
                  <a:srgbClr val="13233A"/>
                </a:solidFill>
              </a:rPr>
              <a:t>Problema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1792" y="1051560"/>
            <a:ext cx="10058400" cy="41148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405168"/>
                </a:solidFill>
              </a:rPr>
              <a:t>Los asistentes genéricos no conocen el build, el contexto ni la calidad que exige un monorepo.</a:t>
            </a:r>
          </a:p>
        </p:txBody>
      </p:sp>
      <p:sp>
        <p:nvSpPr>
          <p:cNvPr id="4" name="Shape 4"/>
          <p:cNvSpPr/>
          <p:nvPr/>
        </p:nvSpPr>
        <p:spPr>
          <a:xfrm>
            <a:off x="4407408" y="1920240"/>
            <a:ext cx="34290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8458200" y="2377440"/>
            <a:ext cx="2743200" cy="1554480"/>
          </a:xfrm>
          <a:prstGeom prst="rect">
            <a:avLst/>
          </a:prstGeom>
        </p:spPr>
        <p:txBody>
          <a:bodyPr/>
          <a:lstStyle/>
          <a:p>
            <a:r>
              <a:rPr lang="en-US" b="1" sz="1700">
                <a:solidFill>
                  <a:srgbClr val="20354B"/>
                </a:solidFill>
              </a:rPr>
              <a:t>03 Escala y latencia: un ciclo serial no funciona para repositorios de millones de líneas.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5840" y="2377440"/>
            <a:ext cx="2743200" cy="1554480"/>
          </a:xfrm>
          <a:prstGeom prst="rect">
            <a:avLst/>
          </a:prstGeom>
        </p:spPr>
        <p:txBody>
          <a:bodyPr/>
          <a:lstStyle/>
          <a:p>
            <a:r>
              <a:rPr lang="en-US" b="1" sz="1700">
                <a:solidFill>
                  <a:srgbClr val="20354B"/>
                </a:solidFill>
              </a:rPr>
              <a:t>01 Contexto incompleto: no resuelven etiquetas de build, artefactos generados ni dependencias transitivas.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920240"/>
            <a:ext cx="34290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138160" y="1920240"/>
            <a:ext cx="34290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4727448" y="2377440"/>
            <a:ext cx="2743200" cy="1554480"/>
          </a:xfrm>
          <a:prstGeom prst="rect">
            <a:avLst/>
          </a:prstGeom>
        </p:spPr>
        <p:txBody>
          <a:bodyPr/>
          <a:lstStyle/>
          <a:p>
            <a:r>
              <a:rPr lang="en-US" b="1" sz="1700">
                <a:solidFill>
                  <a:srgbClr val="20354B"/>
                </a:solidFill>
              </a:rPr>
              <a:t>02 Calidad frágil: cobertura sin intención genera tests quebradizos y no deterministas.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94360" y="411480"/>
            <a:ext cx="3657600" cy="457200"/>
          </a:xfrm>
          <a:prstGeom prst="rect">
            <a:avLst/>
          </a:prstGeom>
        </p:spPr>
        <p:txBody>
          <a:bodyPr/>
          <a:lstStyle/>
          <a:p>
            <a:r>
              <a:rPr lang="en-US" b="1" sz="2800">
                <a:solidFill>
                  <a:srgbClr val="13233A"/>
                </a:solidFill>
              </a:rPr>
              <a:t>Contribución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554480"/>
            <a:ext cx="3246120" cy="3474720"/>
          </a:xfrm>
          <a:prstGeom prst="roundRect">
            <a:avLst/>
          </a:prstGeom>
          <a:solidFill>
            <a:srgbClr val="E9FAF7"/>
          </a:solidFill>
          <a:ln w="19050">
            <a:solidFill>
              <a:srgbClr val="16B8A6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4480560" y="1554480"/>
            <a:ext cx="3246120" cy="3474720"/>
          </a:xfrm>
          <a:prstGeom prst="roundRect">
            <a:avLst/>
          </a:prstGeom>
          <a:solidFill>
            <a:srgbClr val="EEF4FF"/>
          </a:solidFill>
          <a:ln w="19050">
            <a:solidFill>
              <a:srgbClr val="4A7FEA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8183880" y="1554480"/>
            <a:ext cx="3246120" cy="3474720"/>
          </a:xfrm>
          <a:prstGeom prst="roundRect">
            <a:avLst/>
          </a:prstGeom>
          <a:solidFill>
            <a:srgbClr val="FFF4E8"/>
          </a:solidFill>
          <a:ln w="19050">
            <a:solidFill>
              <a:srgbClr val="F29B38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097280" y="2057400"/>
            <a:ext cx="2606040" cy="2103120"/>
          </a:xfrm>
          <a:prstGeom prst="rect">
            <a:avLst/>
          </a:prstGeom>
        </p:spPr>
        <p:txBody>
          <a:bodyPr/>
          <a:lstStyle/>
          <a:p>
            <a:r>
              <a:rPr lang="en-US" b="1" sz="1800">
                <a:solidFill>
                  <a:srgbClr val="15413B"/>
                </a:solidFill>
              </a:rPr>
              <a:t>Arquitectura multi-agente: preparación, generación, ejecución, validación y reparación con contexto focalizado.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00600" y="2057400"/>
            <a:ext cx="2606040" cy="2103120"/>
          </a:xfrm>
          <a:prstGeom prst="rect">
            <a:avLst/>
          </a:prstGeom>
        </p:spPr>
        <p:txBody>
          <a:bodyPr/>
          <a:lstStyle/>
          <a:p>
            <a:r>
              <a:rPr lang="en-US" b="1" sz="1800">
                <a:solidFill>
                  <a:srgbClr val="234474"/>
                </a:solidFill>
              </a:rPr>
              <a:t>Workflow integrado: CLI, Headless e IDE cubren scripting local, backfills y desarrollo asistido.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03920" y="2057400"/>
            <a:ext cx="2606040" cy="2103120"/>
          </a:xfrm>
          <a:prstGeom prst="rect">
            <a:avLst/>
          </a:prstGeom>
        </p:spPr>
        <p:txBody>
          <a:bodyPr/>
          <a:lstStyle/>
          <a:p>
            <a:r>
              <a:rPr lang="en-US" b="1" sz="1800">
                <a:solidFill>
                  <a:srgbClr val="824B12"/>
                </a:solidFill>
              </a:rPr>
              <a:t>Calidad comprobable: ejecución, cobertura de escenarios, lint, mutación y defensas contra flakiness.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94360" y="411480"/>
            <a:ext cx="6400800" cy="457200"/>
          </a:xfrm>
          <a:prstGeom prst="rect">
            <a:avLst/>
          </a:prstGeom>
        </p:spPr>
        <p:txBody>
          <a:bodyPr/>
          <a:lstStyle/>
          <a:p>
            <a:r>
              <a:rPr lang="en-US" b="1" sz="2800">
                <a:solidFill>
                  <a:srgbClr val="13233A"/>
                </a:solidFill>
              </a:rPr>
              <a:t>Propuesta · pipeline multi-agente</a:t>
            </a:r>
          </a:p>
        </p:txBody>
      </p:sp>
      <p:sp>
        <p:nvSpPr>
          <p:cNvPr id="3" name="Shape 3"/>
          <p:cNvSpPr/>
          <p:nvPr/>
        </p:nvSpPr>
        <p:spPr>
          <a:xfrm>
            <a:off x="411480" y="2011680"/>
            <a:ext cx="2057400" cy="2194560"/>
          </a:xfrm>
          <a:prstGeom prst="roundRect">
            <a:avLst/>
          </a:prstGeom>
          <a:solidFill>
            <a:srgbClr val="E9FAF7"/>
          </a:solidFill>
          <a:ln w="19050">
            <a:solidFill>
              <a:srgbClr val="16B8A6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2697480" y="2011680"/>
            <a:ext cx="2057400" cy="2194560"/>
          </a:xfrm>
          <a:prstGeom prst="roundRect">
            <a:avLst/>
          </a:prstGeom>
          <a:solidFill>
            <a:srgbClr val="EEF4FF"/>
          </a:solidFill>
          <a:ln w="19050">
            <a:solidFill>
              <a:srgbClr val="4A7FEA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9555480" y="2011680"/>
            <a:ext cx="2057400" cy="2194560"/>
          </a:xfrm>
          <a:prstGeom prst="roundRect">
            <a:avLst/>
          </a:prstGeom>
          <a:solidFill>
            <a:srgbClr val="FDECEF"/>
          </a:solidFill>
          <a:ln w="19050">
            <a:solidFill>
              <a:srgbClr val="E05A6B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685800" y="2514600"/>
            <a:ext cx="1554480" cy="1097280"/>
          </a:xfrm>
          <a:prstGeom prst="rect">
            <a:avLst/>
          </a:prstGeom>
        </p:spPr>
        <p:txBody>
          <a:bodyPr/>
          <a:lstStyle/>
          <a:p>
            <a:r>
              <a:rPr lang="en-US" b="1" sz="1500">
                <a:solidFill>
                  <a:srgbClr val="15413B"/>
                </a:solidFill>
              </a:rPr>
              <a:t>PREPARER · mapa de escenarios y baseline de cobertura</a:t>
            </a:r>
          </a:p>
        </p:txBody>
      </p:sp>
      <p:sp>
        <p:nvSpPr>
          <p:cNvPr id="7" name="Shape 7"/>
          <p:cNvSpPr/>
          <p:nvPr/>
        </p:nvSpPr>
        <p:spPr>
          <a:xfrm>
            <a:off x="7269480" y="2011680"/>
            <a:ext cx="2057400" cy="2194560"/>
          </a:xfrm>
          <a:prstGeom prst="roundRect">
            <a:avLst/>
          </a:prstGeom>
          <a:solidFill>
            <a:srgbClr val="FFF4E8"/>
          </a:solidFill>
          <a:ln w="19050">
            <a:solidFill>
              <a:srgbClr val="F29B38"/>
            </a:solidFill>
          </a:ln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4983480" y="2011680"/>
            <a:ext cx="2057400" cy="2194560"/>
          </a:xfrm>
          <a:prstGeom prst="roundRect">
            <a:avLst/>
          </a:prstGeom>
          <a:solidFill>
            <a:srgbClr val="F1EDFF"/>
          </a:solidFill>
          <a:ln w="19050">
            <a:solidFill>
              <a:srgbClr val="7F63D7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829800" y="2514600"/>
            <a:ext cx="1554480" cy="1097280"/>
          </a:xfrm>
          <a:prstGeom prst="rect">
            <a:avLst/>
          </a:prstGeom>
        </p:spPr>
        <p:txBody>
          <a:bodyPr/>
          <a:lstStyle/>
          <a:p>
            <a:r>
              <a:rPr lang="en-US" b="1" sz="1500">
                <a:solidFill>
                  <a:srgbClr val="853542"/>
                </a:solidFill>
              </a:rPr>
              <a:t>FIXER · diagnósticos, reparación mínima y rollback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57800" y="2514600"/>
            <a:ext cx="1554480" cy="1097280"/>
          </a:xfrm>
          <a:prstGeom prst="rect">
            <a:avLst/>
          </a:prstGeom>
        </p:spPr>
        <p:txBody>
          <a:bodyPr/>
          <a:lstStyle/>
          <a:p>
            <a:r>
              <a:rPr lang="en-US" b="1" sz="1500">
                <a:solidFill>
                  <a:srgbClr val="493D7E"/>
                </a:solidFill>
              </a:rPr>
              <a:t>EXECUTOR · build aislada, ejecución y splice AST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3800" y="2514600"/>
            <a:ext cx="1554480" cy="1097280"/>
          </a:xfrm>
          <a:prstGeom prst="rect">
            <a:avLst/>
          </a:prstGeom>
        </p:spPr>
        <p:txBody>
          <a:bodyPr/>
          <a:lstStyle/>
          <a:p>
            <a:r>
              <a:rPr lang="en-US" b="1" sz="1500">
                <a:solidFill>
                  <a:srgbClr val="824B12"/>
                </a:solidFill>
              </a:rPr>
              <a:t>VALIDATOR · convenciones, mutación, lint y memoria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71800" y="2514600"/>
            <a:ext cx="1554480" cy="1097280"/>
          </a:xfrm>
          <a:prstGeom prst="rect">
            <a:avLst/>
          </a:prstGeom>
        </p:spPr>
        <p:txBody>
          <a:bodyPr/>
          <a:lstStyle/>
          <a:p>
            <a:r>
              <a:rPr lang="en-US" b="1" sz="1500">
                <a:solidFill>
                  <a:srgbClr val="234474"/>
                </a:solidFill>
              </a:rPr>
              <a:t>GENERATOR · candidatos por función y deduplicación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94360" y="411480"/>
            <a:ext cx="3657600" cy="457200"/>
          </a:xfrm>
          <a:prstGeom prst="rect">
            <a:avLst/>
          </a:prstGeom>
        </p:spPr>
        <p:txBody>
          <a:bodyPr/>
          <a:lstStyle/>
          <a:p>
            <a:r>
              <a:rPr lang="en-US" b="1" sz="2800">
                <a:solidFill>
                  <a:srgbClr val="13233A"/>
                </a:solidFill>
              </a:rPr>
              <a:t>Evaluación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1792" y="1051560"/>
            <a:ext cx="10241280" cy="41148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405168"/>
                </a:solidFill>
              </a:rPr>
              <a:t>Benchmark sobre 9 sujetos Go: AutoCover obtiene alta cobertura más temprano que los baselines evaluados.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1828800"/>
            <a:ext cx="3200400" cy="3200400"/>
          </a:xfrm>
          <a:prstGeom prst="roundRect">
            <a:avLst/>
          </a:prstGeom>
          <a:solidFill>
            <a:srgbClr val="E9FAF7"/>
          </a:solidFill>
          <a:ln w="19050">
            <a:solidFill>
              <a:srgbClr val="16B8A6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4480560" y="1828800"/>
            <a:ext cx="3200400" cy="3200400"/>
          </a:xfrm>
          <a:prstGeom prst="roundRect">
            <a:avLst/>
          </a:prstGeom>
          <a:solidFill>
            <a:srgbClr val="EEF4FF"/>
          </a:solidFill>
          <a:ln w="19050">
            <a:solidFill>
              <a:srgbClr val="4A7FEA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8138160" y="1828800"/>
            <a:ext cx="3200400" cy="3200400"/>
          </a:xfrm>
          <a:prstGeom prst="roundRect">
            <a:avLst/>
          </a:prstGeom>
          <a:solidFill>
            <a:srgbClr val="FFF4E8"/>
          </a:solidFill>
          <a:ln w="19050">
            <a:solidFill>
              <a:srgbClr val="F29B38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503920" y="2331720"/>
            <a:ext cx="2468880" cy="1371600"/>
          </a:xfrm>
          <a:prstGeom prst="rect">
            <a:avLst/>
          </a:prstGeom>
        </p:spPr>
        <p:txBody>
          <a:bodyPr/>
          <a:lstStyle/>
          <a:p>
            <a:r>
              <a:rPr lang="en-US" b="1" sz="2100">
                <a:solidFill>
                  <a:srgbClr val="824B12"/>
                </a:solidFill>
              </a:rPr>
              <a:t>44% de aceptación explícita en IDE; ningún test roto en la revisión experta de 9 casos.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8720" y="2331720"/>
            <a:ext cx="2468880" cy="1371600"/>
          </a:xfrm>
          <a:prstGeom prst="rect">
            <a:avLst/>
          </a:prstGeom>
        </p:spPr>
        <p:txBody>
          <a:bodyPr/>
          <a:lstStyle/>
          <a:p>
            <a:r>
              <a:rPr lang="en-US" b="1" sz="2100">
                <a:solidFill>
                  <a:srgbClr val="15413B"/>
                </a:solidFill>
              </a:rPr>
              <a:t>93.2% de cobertura mediana en 10 minutos; AutoCover llega a 95% en 10.8 minutos.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46320" y="2331720"/>
            <a:ext cx="2468880" cy="1371600"/>
          </a:xfrm>
          <a:prstGeom prst="rect">
            <a:avLst/>
          </a:prstGeom>
        </p:spPr>
        <p:txBody>
          <a:bodyPr/>
          <a:lstStyle/>
          <a:p>
            <a:r>
              <a:rPr lang="en-US" b="1" sz="2100">
                <a:solidFill>
                  <a:srgbClr val="234474"/>
                </a:solidFill>
              </a:rPr>
              <a:t>11% de los nuevos tests revisados y añadidos al código de Uber son generados por AutoCover.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94360" y="411480"/>
            <a:ext cx="3657600" cy="457200"/>
          </a:xfrm>
          <a:prstGeom prst="rect">
            <a:avLst/>
          </a:prstGeom>
        </p:spPr>
        <p:txBody>
          <a:bodyPr/>
          <a:lstStyle/>
          <a:p>
            <a:r>
              <a:rPr lang="en-US" b="1" sz="2800">
                <a:solidFill>
                  <a:srgbClr val="13233A"/>
                </a:solidFill>
              </a:rPr>
              <a:t>Conclusión</a:t>
            </a:r>
          </a:p>
        </p:txBody>
      </p:sp>
      <p:sp>
        <p:nvSpPr>
          <p:cNvPr id="3" name="Shape 3"/>
          <p:cNvSpPr/>
          <p:nvPr/>
        </p:nvSpPr>
        <p:spPr>
          <a:xfrm>
            <a:off x="731520" y="1325880"/>
            <a:ext cx="10789920" cy="1051560"/>
          </a:xfrm>
          <a:prstGeom prst="roundRect">
            <a:avLst/>
          </a:prstGeom>
          <a:solidFill>
            <a:srgbClr val="13233A"/>
          </a:solidFill>
          <a:ln w="12700">
            <a:solidFill>
              <a:srgbClr val="13233A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449056" y="3474720"/>
            <a:ext cx="2560320" cy="822960"/>
          </a:xfrm>
          <a:prstGeom prst="rect">
            <a:avLst/>
          </a:prstGeom>
        </p:spPr>
        <p:txBody>
          <a:bodyPr/>
          <a:lstStyle/>
          <a:p>
            <a:r>
              <a:rPr lang="en-US" b="1" sz="1700">
                <a:solidFill>
                  <a:srgbClr val="824B12"/>
                </a:solidFill>
              </a:rPr>
              <a:t>La UX define adopción: baja fricción, control humano y costos predecibles en IDE.</a:t>
            </a:r>
          </a:p>
        </p:txBody>
      </p:sp>
      <p:sp>
        <p:nvSpPr>
          <p:cNvPr id="5" name="Shape 5"/>
          <p:cNvSpPr/>
          <p:nvPr/>
        </p:nvSpPr>
        <p:spPr>
          <a:xfrm>
            <a:off x="4498848" y="3017520"/>
            <a:ext cx="3200400" cy="182880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4A7FEA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097280" y="1645920"/>
            <a:ext cx="9875520" cy="320040"/>
          </a:xfrm>
          <a:prstGeom prst="rect">
            <a:avLst/>
          </a:prstGeom>
        </p:spPr>
        <p:txBody>
          <a:bodyPr/>
          <a:lstStyle/>
          <a:p>
            <a:r>
              <a:rPr lang="en-US" b="1" sz="2200">
                <a:solidFill>
                  <a:srgbClr val="FFFFFF"/>
                </a:solidFill>
              </a:rPr>
              <a:t>Generar tests a escala requiere conectar el LLM con la realidad operacional del repositorio.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3017520"/>
            <a:ext cx="3200400" cy="1828800"/>
          </a:xfrm>
          <a:prstGeom prst="roundRect">
            <a:avLst/>
          </a:prstGeom>
          <a:solidFill>
            <a:srgbClr val="E9FAF7"/>
          </a:solidFill>
          <a:ln w="15240">
            <a:solidFill>
              <a:srgbClr val="16B8A6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1188720" y="3474720"/>
            <a:ext cx="2560320" cy="822960"/>
          </a:xfrm>
          <a:prstGeom prst="rect">
            <a:avLst/>
          </a:prstGeom>
        </p:spPr>
        <p:txBody>
          <a:bodyPr/>
          <a:lstStyle/>
          <a:p>
            <a:r>
              <a:rPr lang="en-US" b="1" sz="1700">
                <a:solidFill>
                  <a:srgbClr val="15413B"/>
                </a:solidFill>
              </a:rPr>
              <a:t>No basta el modelo: build, código generado y convenciones deben pertenecer al sistema.</a:t>
            </a:r>
          </a:p>
        </p:txBody>
      </p:sp>
      <p:sp>
        <p:nvSpPr>
          <p:cNvPr id="9" name="Shape 9"/>
          <p:cNvSpPr/>
          <p:nvPr/>
        </p:nvSpPr>
        <p:spPr>
          <a:xfrm>
            <a:off x="8129016" y="3017520"/>
            <a:ext cx="3200400" cy="182880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F29B38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818888" y="3474720"/>
            <a:ext cx="2560320" cy="822960"/>
          </a:xfrm>
          <a:prstGeom prst="rect">
            <a:avLst/>
          </a:prstGeom>
        </p:spPr>
        <p:txBody>
          <a:bodyPr/>
          <a:lstStyle/>
          <a:p>
            <a:r>
              <a:rPr lang="en-US" b="1" sz="1700">
                <a:solidFill>
                  <a:srgbClr val="234474"/>
                </a:solidFill>
              </a:rPr>
              <a:t>La calidad es multidimensional: cobertura, escenarios, estabilidad, mutación y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94360" y="411480"/>
            <a:ext cx="7315200" cy="457200"/>
          </a:xfrm>
          <a:prstGeom prst="rect">
            <a:avLst/>
          </a:prstGeom>
        </p:spPr>
        <p:txBody>
          <a:bodyPr/>
          <a:lstStyle/>
          <a:p>
            <a:r>
              <a:rPr lang="en-US" b="1" sz="2800">
                <a:solidFill>
                  <a:srgbClr val="13233A"/>
                </a:solidFill>
              </a:rPr>
              <a:t>Limitaciones y trabajos futuros</a:t>
            </a:r>
          </a:p>
        </p:txBody>
      </p:sp>
      <p:sp>
        <p:nvSpPr>
          <p:cNvPr id="3" name="Shape 3"/>
          <p:cNvSpPr/>
          <p:nvPr/>
        </p:nvSpPr>
        <p:spPr>
          <a:xfrm>
            <a:off x="731520" y="1508760"/>
            <a:ext cx="50292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309360" y="1508760"/>
            <a:ext cx="5029200" cy="3931920"/>
          </a:xfrm>
          <a:prstGeom prst="roundRect">
            <a:avLst/>
          </a:prstGeom>
          <a:solidFill>
            <a:srgbClr val="13233A"/>
          </a:solidFill>
          <a:ln w="12700">
            <a:solidFill>
              <a:srgbClr val="13233A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097280" y="2057400"/>
            <a:ext cx="4297680" cy="2103120"/>
          </a:xfrm>
          <a:prstGeom prst="rect">
            <a:avLst/>
          </a:prstGeom>
        </p:spPr>
        <p:txBody>
          <a:bodyPr/>
          <a:lstStyle/>
          <a:p>
            <a:r>
              <a:rPr lang="en-US" b="1" sz="1800">
                <a:solidFill>
                  <a:srgbClr val="20354B"/>
                </a:solidFill>
              </a:rPr>
              <a:t>Limitaciones: resultados condicionados por Uber; cobertura no equivale a efectividad; cambios simultáneos dificultan atribución causal; hay posibles sesgos de evaluación.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</p:spPr>
        <p:txBody>
          <a:bodyPr/>
          <a:lstStyle/>
          <a:p>
            <a:r>
              <a:rPr lang="en-US" b="1" sz="1700">
                <a:solidFill>
                  <a:srgbClr val="0E8D83"/>
                </a:solidFill>
              </a:rPr>
              <a:t>Pregunta final: ¿cómo automatizamos sin degradar la confianza que una buena suite de pruebas debe generar?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5120" y="2057400"/>
            <a:ext cx="4297680" cy="2103120"/>
          </a:xfrm>
          <a:prstGeom prst="rect">
            <a:avLst/>
          </a:prstGeom>
        </p:spPr>
        <p:txBody>
          <a:bodyPr/>
          <a:lstStyle/>
          <a:p>
            <a:r>
              <a:rPr lang="en-US" b="1" sz="1800">
                <a:solidFill>
                  <a:srgbClr val="FFFFFF"/>
                </a:solidFill>
              </a:rPr>
              <a:t>Trabajo futuro: más lenguajes y adaptadores; mejor estilo local y menos bloat; cobertura de cambios más visible; menor costo y latencia; más evidencia de generalización.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6B8A6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zavora-slide</Application>
  <PresentationFormat>Widescreen</PresentationFormat>
  <Slides>0</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AutoCover: generación automática de pruebas</dc:title>
  <dc:creator>Fabricio Jesús Huaquisto Quispe; Jose Carlos Malaga; Lenin Huayhua</dc:creator>
  <cp:lastModifiedBy>zavora-slide</cp:lastModifiedBy>
  <cp:revision>1</cp:revision>
  <dc:subject>Presentación basada en Rastenis et al. (ICSE-SEIP 2026)</dc:subject>
</cp:coreProperties>
</file>